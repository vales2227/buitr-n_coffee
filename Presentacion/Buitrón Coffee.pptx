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6858000" cx="12192000"/>
  <p:notesSz cx="6858000" cy="9144000"/>
  <p:embeddedFontLst>
    <p:embeddedFont>
      <p:font typeface="Work Sans"/>
      <p:regular r:id="rId59"/>
      <p:bold r:id="rId60"/>
      <p:italic r:id="rId61"/>
      <p:boldItalic r:id="rId62"/>
    </p:embeddedFont>
    <p:embeddedFont>
      <p:font typeface="Work Sans Light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67" roundtripDataSignature="AMtx7mgxWIm0CH2GxtOsvdIiywWqVkZI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WorkSans-boldItalic.fntdata"/><Relationship Id="rId61" Type="http://schemas.openxmlformats.org/officeDocument/2006/relationships/font" Target="fonts/WorkSans-italic.fntdata"/><Relationship Id="rId20" Type="http://schemas.openxmlformats.org/officeDocument/2006/relationships/slide" Target="slides/slide15.xml"/><Relationship Id="rId64" Type="http://schemas.openxmlformats.org/officeDocument/2006/relationships/font" Target="fonts/WorkSansLight-bold.fntdata"/><Relationship Id="rId63" Type="http://schemas.openxmlformats.org/officeDocument/2006/relationships/font" Target="fonts/WorkSansLight-regular.fntdata"/><Relationship Id="rId22" Type="http://schemas.openxmlformats.org/officeDocument/2006/relationships/slide" Target="slides/slide17.xml"/><Relationship Id="rId66" Type="http://schemas.openxmlformats.org/officeDocument/2006/relationships/font" Target="fonts/WorkSansLight-boldItalic.fntdata"/><Relationship Id="rId21" Type="http://schemas.openxmlformats.org/officeDocument/2006/relationships/slide" Target="slides/slide16.xml"/><Relationship Id="rId65" Type="http://schemas.openxmlformats.org/officeDocument/2006/relationships/font" Target="fonts/WorkSansLight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customschemas.google.com/relationships/presentationmetadata" Target="metadata"/><Relationship Id="rId60" Type="http://schemas.openxmlformats.org/officeDocument/2006/relationships/font" Target="fonts/WorkSans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WorkSans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63885c35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663885c35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9c5439d23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a9c5439d23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a8caca1f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aa8caca1f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02e5d77eb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3802e5d77eb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11d1c57bc_3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g3911d1c57bc_3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911d1c57bc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g3911d1c57bc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9c5439d2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g3a9c5439d2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9c5439d23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g3a9c5439d23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9c5439d23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g3a9c5439d23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9c5439d23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g3a9c5439d23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11d1c57bc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g3911d1c57bc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11d1c57bc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g3911d1c57bc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a8caca1f4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g3aa8caca1f4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a8caca1f4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g3aa8caca1f4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9c5439d23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g3a9c5439d23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9c5439d23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g3a9c5439d23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9c5439d23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g3a9c5439d23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9c5439d23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g3a9c5439d23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a8caca1f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g3aa8caca1f4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a8caca1f4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aa8caca1f4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a8caca1f4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g3aa8caca1f4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a8caca1f4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aa8caca1f4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918582bfb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g3918582bfb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918582bfb0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g3918582bfb0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" name="Google Shape;51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1.jp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.jp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.jp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1.jp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7.jpg"/><Relationship Id="rId5" Type="http://schemas.openxmlformats.org/officeDocument/2006/relationships/image" Target="../media/image6.jpg"/><Relationship Id="rId6" Type="http://schemas.openxmlformats.org/officeDocument/2006/relationships/image" Target="../media/image10.jpg"/><Relationship Id="rId7" Type="http://schemas.openxmlformats.org/officeDocument/2006/relationships/image" Target="../media/image13.jpg"/><Relationship Id="rId8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1.jpg"/><Relationship Id="rId5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1.jpg"/><Relationship Id="rId5" Type="http://schemas.openxmlformats.org/officeDocument/2006/relationships/image" Target="../media/image3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Relationship Id="rId4" Type="http://schemas.openxmlformats.org/officeDocument/2006/relationships/image" Target="../media/image1.jpg"/><Relationship Id="rId5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Relationship Id="rId4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2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Relationship Id="rId4" Type="http://schemas.openxmlformats.org/officeDocument/2006/relationships/image" Target="../media/image1.jpg"/><Relationship Id="rId5" Type="http://schemas.openxmlformats.org/officeDocument/2006/relationships/image" Target="../media/image4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jpg"/><Relationship Id="rId4" Type="http://schemas.openxmlformats.org/officeDocument/2006/relationships/image" Target="../media/image46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forms/d/e/1FAIpQLScBqVCy7OApCszO1W4sTHENB5iWDe7YAD7jW3lIlwQaCe4T7g/viewform?usp=header" TargetMode="External"/><Relationship Id="rId5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hyperlink" Target="https://drive.google.com/file/d/1DzoudtzaDaOLdbzDTUpx5Q-wk2QPlJ_i/view?usp=sharing" TargetMode="External"/><Relationship Id="rId5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d/152cBazQ8mp8sVhbb0azYdKvIxjwND9Bn/edit?usp=sharing&amp;ouid=111400692386501262002&amp;rtpof=true&amp;sd=true" TargetMode="External"/><Relationship Id="rId5" Type="http://schemas.openxmlformats.org/officeDocument/2006/relationships/image" Target="../media/image1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d/152cBazQ8mp8sVhbb0azYdKvIxjwND9Bn/edit?usp=sharing&amp;ouid=111400692386501262002&amp;rtpof=true&amp;sd=true" TargetMode="External"/><Relationship Id="rId5" Type="http://schemas.openxmlformats.org/officeDocument/2006/relationships/image" Target="../media/image1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d/152cBazQ8mp8sVhbb0azYdKvIxjwND9Bn/edit?usp=sharing&amp;ouid=111400692386501262002&amp;rtpof=true&amp;sd=true" TargetMode="External"/><Relationship Id="rId5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hyperlink" Target="https://www.figma.com/proto/cVb3ABkMeEU3wm5VGB8oeg/Copy-Buitr%C3%B3n-Coffe?node-id=1-123&amp;p=f&amp;t=bLXE82ehL0rnV0ih-1&amp;scaling=scale-down&amp;content-scaling=fixed&amp;page-id=0%3A1&amp;starting-point-node-id=1%3A2" TargetMode="External"/><Relationship Id="rId5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jpg"/><Relationship Id="rId4" Type="http://schemas.openxmlformats.org/officeDocument/2006/relationships/image" Target="../media/image1.jpg"/><Relationship Id="rId5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hyperlink" Target="https://drive.google.com/drive/u/0/folders/1F5WR4SLYkPvbxZkTDE2g5wAjXHmcDIr7" TargetMode="External"/><Relationship Id="rId5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hyperlink" Target="https://drive.google.com/drive/u/0/folders/1F5WR4SLYkPvbxZkTDE2g5wAjXHmcDIr7" TargetMode="External"/><Relationship Id="rId5" Type="http://schemas.openxmlformats.org/officeDocument/2006/relationships/image" Target="../media/image4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hyperlink" Target="https://drive.google.com/drive/u/0/folders/1wXVbKyLJeV8yo2IImg3eQDKGbAMlmR1r" TargetMode="External"/><Relationship Id="rId5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Relationship Id="rId4" Type="http://schemas.openxmlformats.org/officeDocument/2006/relationships/hyperlink" Target="https://drive.google.com/drive/u/0/folders/1wXVbKyLJeV8yo2IImg3eQDKGbAMlmR1r" TargetMode="External"/><Relationship Id="rId5" Type="http://schemas.openxmlformats.org/officeDocument/2006/relationships/image" Target="../media/image4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Relationship Id="rId4" Type="http://schemas.openxmlformats.org/officeDocument/2006/relationships/hyperlink" Target="https://drive.google.com/drive/u/0/folders/1fc-fa7s30uXVBUkATravdwbFvp_62g5Z" TargetMode="External"/><Relationship Id="rId5" Type="http://schemas.openxmlformats.org/officeDocument/2006/relationships/image" Target="../media/image3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docs.google.com/document/d/19nNy_PGEjN5EyecCukkZDAfxlsJzcsQL/edit?rtpof=true&amp;tab=t.0" TargetMode="External"/><Relationship Id="rId4" Type="http://schemas.openxmlformats.org/officeDocument/2006/relationships/image" Target="../media/image1.jpg"/><Relationship Id="rId5" Type="http://schemas.openxmlformats.org/officeDocument/2006/relationships/hyperlink" Target="https://drive.google.com/drive/u/0/folders/1bpN-Jes-ofaoPfffcmufN01HnS_F1EaP" TargetMode="External"/><Relationship Id="rId6" Type="http://schemas.openxmlformats.org/officeDocument/2006/relationships/image" Target="../media/image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spreadsheets/d/1eTb8_OK3S9wvp7PIMtpO2wZbwVvsQFuq/edit?gid=1281140892#gid=1281140892" TargetMode="External"/><Relationship Id="rId5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spreadsheets/d/1KNqx2pl3fcvIZDxwaYRc_HQ8EQ4unNxv/edit?gid=1476863006#gid=1476863006" TargetMode="External"/><Relationship Id="rId5" Type="http://schemas.openxmlformats.org/officeDocument/2006/relationships/image" Target="../media/image39.png"/><Relationship Id="rId6" Type="http://schemas.openxmlformats.org/officeDocument/2006/relationships/hyperlink" Target="https://docs.google.com/spreadsheets/d/1KNqx2pl3fcvIZDxwaYRc_HQ8EQ4unNxv/edit?gid=1476863006#gid=1476863006" TargetMode="External"/><Relationship Id="rId7" Type="http://schemas.openxmlformats.org/officeDocument/2006/relationships/image" Target="../media/image4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Relationship Id="rId4" Type="http://schemas.openxmlformats.org/officeDocument/2006/relationships/hyperlink" Target="https://drive.google.com/drive/u/0/folders/1wXVbKyLJeV8yo2IImg3eQDKGbAMlmR1r" TargetMode="External"/><Relationship Id="rId5" Type="http://schemas.openxmlformats.org/officeDocument/2006/relationships/image" Target="../media/image3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Relationship Id="rId4" Type="http://schemas.openxmlformats.org/officeDocument/2006/relationships/hyperlink" Target="https://github.com/ValeS2227/Buitr-n_Coffee.git" TargetMode="External"/><Relationship Id="rId5" Type="http://schemas.openxmlformats.org/officeDocument/2006/relationships/image" Target="../media/image3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995422" y="2551837"/>
            <a:ext cx="64536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Buitrón Coffee</a:t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4318" y="1886474"/>
            <a:ext cx="2751243" cy="3868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633048" y="411602"/>
            <a:ext cx="782635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Tabla de contenido</a:t>
            </a:r>
            <a:endParaRPr b="1" i="0" sz="72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1063869" y="1417017"/>
            <a:ext cx="6244753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2"/>
          <p:cNvSpPr/>
          <p:nvPr/>
        </p:nvSpPr>
        <p:spPr>
          <a:xfrm>
            <a:off x="1060339" y="1516852"/>
            <a:ext cx="5514600" cy="5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Contextualización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Planteamiento Problema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Pregunta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Justificación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Alcance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BPMN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</a:t>
            </a:r>
            <a:b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7.1  Objetivo General</a:t>
            </a:r>
            <a:b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7.2   Objetivo Específico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679" y="93919"/>
            <a:ext cx="675638" cy="950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isyon ve Vizyon | Osmaniye Korkut Ata Üniversitesi" id="103" name="Google Shape;10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3132" y="1640061"/>
            <a:ext cx="3752216" cy="4656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63885c35e_0_0"/>
          <p:cNvSpPr txBox="1"/>
          <p:nvPr/>
        </p:nvSpPr>
        <p:spPr>
          <a:xfrm>
            <a:off x="633048" y="411602"/>
            <a:ext cx="782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Tabla de contenido</a:t>
            </a:r>
            <a:endParaRPr b="1" i="0" sz="72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9" name="Google Shape;109;g3663885c35e_0_0"/>
          <p:cNvCxnSpPr/>
          <p:nvPr/>
        </p:nvCxnSpPr>
        <p:spPr>
          <a:xfrm>
            <a:off x="1063869" y="1417017"/>
            <a:ext cx="62448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g3663885c35e_0_0"/>
          <p:cNvSpPr/>
          <p:nvPr/>
        </p:nvSpPr>
        <p:spPr>
          <a:xfrm>
            <a:off x="538114" y="1950402"/>
            <a:ext cx="5514600" cy="5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 startAt="8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Levantamiento De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8.1 Informe Encuesta</a:t>
            </a:r>
            <a:b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8.2 Informe Entrevista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 startAt="9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9.1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9.2 No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 startAt="10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Mockups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3663885c35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679" y="93919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isyon ve Vizyon | Osmaniye Korkut Ata Üniversitesi" id="112" name="Google Shape;112;g3663885c35e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5066" y="1635576"/>
            <a:ext cx="3714569" cy="4609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c5439d23_0_70"/>
          <p:cNvSpPr txBox="1"/>
          <p:nvPr/>
        </p:nvSpPr>
        <p:spPr>
          <a:xfrm>
            <a:off x="633048" y="411602"/>
            <a:ext cx="782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Tabla de contenido</a:t>
            </a:r>
            <a:endParaRPr b="1" i="0" sz="72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8" name="Google Shape;118;g3a9c5439d23_0_70"/>
          <p:cNvCxnSpPr/>
          <p:nvPr/>
        </p:nvCxnSpPr>
        <p:spPr>
          <a:xfrm>
            <a:off x="1063869" y="1417017"/>
            <a:ext cx="62448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g3a9c5439d23_0_70"/>
          <p:cNvSpPr/>
          <p:nvPr/>
        </p:nvSpPr>
        <p:spPr>
          <a:xfrm>
            <a:off x="538127" y="1950400"/>
            <a:ext cx="6687600" cy="5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97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AutoNum type="arabicPeriod" startAt="10"/>
            </a:pPr>
            <a:r>
              <a:rPr lang="es-CO" sz="2800">
                <a:latin typeface="Times New Roman"/>
                <a:ea typeface="Times New Roman"/>
                <a:cs typeface="Times New Roman"/>
                <a:sym typeface="Times New Roman"/>
              </a:rPr>
              <a:t>Diagrama Caso De Uso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AutoNum type="arabicPeriod" startAt="10"/>
            </a:pPr>
            <a:r>
              <a:rPr lang="es-CO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Caso De Uso Extendido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 startAt="10"/>
            </a:pPr>
            <a:r>
              <a:rPr lang="es-CO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Entidad Relación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 startAt="10"/>
            </a:pPr>
            <a:r>
              <a:rPr lang="es-CO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Relacional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 startAt="10"/>
            </a:pPr>
            <a:r>
              <a:rPr lang="es-CO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Despliegue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 startAt="10"/>
            </a:pPr>
            <a:r>
              <a:rPr lang="es-CO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Ficha Técnica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3a9c5439d23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679" y="93919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isyon ve Vizyon | Osmaniye Korkut Ata Üniversitesi" id="121" name="Google Shape;121;g3a9c5439d23_0_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5066" y="1635576"/>
            <a:ext cx="3714569" cy="4609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a8caca1f4_0_5"/>
          <p:cNvSpPr txBox="1"/>
          <p:nvPr/>
        </p:nvSpPr>
        <p:spPr>
          <a:xfrm>
            <a:off x="633048" y="411602"/>
            <a:ext cx="782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Tabla de contenido</a:t>
            </a:r>
            <a:endParaRPr b="1" i="0" sz="72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" name="Google Shape;127;g3aa8caca1f4_0_5"/>
          <p:cNvCxnSpPr/>
          <p:nvPr/>
        </p:nvCxnSpPr>
        <p:spPr>
          <a:xfrm>
            <a:off x="1063869" y="1417017"/>
            <a:ext cx="62448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g3aa8caca1f4_0_5"/>
          <p:cNvSpPr/>
          <p:nvPr/>
        </p:nvSpPr>
        <p:spPr>
          <a:xfrm>
            <a:off x="538114" y="1950402"/>
            <a:ext cx="5514600" cy="5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 startAt="10"/>
            </a:pPr>
            <a:r>
              <a:rPr lang="es-CO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Normalización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 startAt="10"/>
            </a:pPr>
            <a:r>
              <a:rPr lang="es-CO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Diccionario De Datos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 startAt="10"/>
            </a:pPr>
            <a:r>
              <a:rPr lang="es-CO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Repositorio GitHub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g3aa8caca1f4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679" y="93919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isyon ve Vizyon | Osmaniye Korkut Ata Üniversitesi" id="130" name="Google Shape;130;g3aa8caca1f4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5066" y="1635576"/>
            <a:ext cx="3714569" cy="4609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/>
        </p:nvSpPr>
        <p:spPr>
          <a:xfrm>
            <a:off x="745947" y="2238297"/>
            <a:ext cx="11118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CONTEXTUALIZACIÓN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6" name="Google Shape;136;p4"/>
          <p:cNvCxnSpPr/>
          <p:nvPr/>
        </p:nvCxnSpPr>
        <p:spPr>
          <a:xfrm>
            <a:off x="1855177" y="4311271"/>
            <a:ext cx="873405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7" name="Google Shape;1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5" cy="1174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/>
        </p:nvSpPr>
        <p:spPr>
          <a:xfrm>
            <a:off x="988666" y="485775"/>
            <a:ext cx="3606469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000" u="none" cap="none" strike="noStrike">
                <a:solidFill>
                  <a:srgbClr val="38AA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Contextualización</a:t>
            </a:r>
            <a:endParaRPr b="0"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478498" y="1061282"/>
            <a:ext cx="5355232" cy="550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Origen Pitalito Huila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Jefe Juan Carlos Buitrón 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Finca las Brisas Montecristo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Altura 1750 msnm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Café Bourbon Rosado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Café Supremo 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cxnSp>
        <p:nvCxnSpPr>
          <p:cNvPr id="144" name="Google Shape;144;p5"/>
          <p:cNvCxnSpPr/>
          <p:nvPr/>
        </p:nvCxnSpPr>
        <p:spPr>
          <a:xfrm flipH="1" rot="10800000">
            <a:off x="1126349" y="1043956"/>
            <a:ext cx="1919839" cy="4857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6060" y="334108"/>
            <a:ext cx="2895600" cy="22098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2352"/>
              </a:srgbClr>
            </a:outerShdw>
          </a:effectLst>
        </p:spPr>
      </p:pic>
      <p:pic>
        <p:nvPicPr>
          <p:cNvPr id="146" name="Google Shape;14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5796" y="485775"/>
            <a:ext cx="2162175" cy="29432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2352"/>
              </a:srgbClr>
            </a:outerShdw>
          </a:effectLst>
        </p:spPr>
      </p:pic>
      <p:pic>
        <p:nvPicPr>
          <p:cNvPr id="147" name="Google Shape;14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4044" y="3815862"/>
            <a:ext cx="3064172" cy="242667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2352"/>
              </a:srgbClr>
            </a:outerShdw>
          </a:effectLst>
        </p:spPr>
      </p:pic>
      <p:pic>
        <p:nvPicPr>
          <p:cNvPr id="148" name="Google Shape;14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6060" y="2813538"/>
            <a:ext cx="2727060" cy="363608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2352"/>
              </a:srgbClr>
            </a:outerShdw>
          </a:effectLst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679" y="93919"/>
            <a:ext cx="675638" cy="950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/>
        </p:nvSpPr>
        <p:spPr>
          <a:xfrm>
            <a:off x="713497" y="2002947"/>
            <a:ext cx="1111808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PLANTEAMIENTO PROBLEMA</a:t>
            </a:r>
            <a:endParaRPr b="1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5" name="Google Shape;155;p6"/>
          <p:cNvCxnSpPr/>
          <p:nvPr/>
        </p:nvCxnSpPr>
        <p:spPr>
          <a:xfrm>
            <a:off x="1855177" y="4311271"/>
            <a:ext cx="873405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6" name="Google Shape;1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5" cy="1174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/>
        </p:nvSpPr>
        <p:spPr>
          <a:xfrm>
            <a:off x="816317" y="435156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Planteamiento Problema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2" name="Google Shape;162;p7"/>
          <p:cNvCxnSpPr/>
          <p:nvPr/>
        </p:nvCxnSpPr>
        <p:spPr>
          <a:xfrm>
            <a:off x="940776" y="1043956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7"/>
          <p:cNvSpPr/>
          <p:nvPr/>
        </p:nvSpPr>
        <p:spPr>
          <a:xfrm>
            <a:off x="360484" y="1617674"/>
            <a:ext cx="6377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O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comercio electrónico crece en Colombia, pero muchas empresas carecen de sistemas digitales.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O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 ello, Buitrón Coffee necesita un sistema de información que optimice inventarios y refuerce su competitividad.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679" y="93919"/>
            <a:ext cx="675638" cy="950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mo solucionar problemas" id="165" name="Google Shape;16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8257" y="1662545"/>
            <a:ext cx="5002350" cy="3532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/>
          <p:nvPr/>
        </p:nvSpPr>
        <p:spPr>
          <a:xfrm>
            <a:off x="601617" y="2609617"/>
            <a:ext cx="1111808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PREGUNTA PROBLEMA</a:t>
            </a:r>
            <a:endParaRPr b="1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1" name="Google Shape;171;p8"/>
          <p:cNvCxnSpPr/>
          <p:nvPr/>
        </p:nvCxnSpPr>
        <p:spPr>
          <a:xfrm>
            <a:off x="1793631" y="3809946"/>
            <a:ext cx="873405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2" name="Google Shape;1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5" cy="1174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/>
        </p:nvSpPr>
        <p:spPr>
          <a:xfrm>
            <a:off x="816317" y="399104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Pregunta Problema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8" name="Google Shape;178;p9"/>
          <p:cNvCxnSpPr/>
          <p:nvPr/>
        </p:nvCxnSpPr>
        <p:spPr>
          <a:xfrm>
            <a:off x="1060542" y="1035464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9"/>
          <p:cNvSpPr/>
          <p:nvPr/>
        </p:nvSpPr>
        <p:spPr>
          <a:xfrm>
            <a:off x="5802922" y="2444151"/>
            <a:ext cx="62865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O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¿Cómo puede Buitrón Coffee enfrentar los problemas en el control de su inventario?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679" y="61659"/>
            <a:ext cx="675638" cy="950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ertijo, ¿eres capaz de resolverlo? | PeakD" id="181" name="Google Shape;18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3436" y="1878052"/>
            <a:ext cx="4164490" cy="4164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/>
        </p:nvSpPr>
        <p:spPr>
          <a:xfrm>
            <a:off x="601617" y="2609617"/>
            <a:ext cx="1111808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JUSTIFICACIÓN</a:t>
            </a:r>
            <a:endParaRPr b="1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7" name="Google Shape;187;p14"/>
          <p:cNvCxnSpPr/>
          <p:nvPr/>
        </p:nvCxnSpPr>
        <p:spPr>
          <a:xfrm>
            <a:off x="1793631" y="3809946"/>
            <a:ext cx="873405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8" name="Google Shape;1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5" cy="1174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/>
        </p:nvSpPr>
        <p:spPr>
          <a:xfrm>
            <a:off x="816317" y="434273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Justificación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4" name="Google Shape;194;p15"/>
          <p:cNvCxnSpPr/>
          <p:nvPr/>
        </p:nvCxnSpPr>
        <p:spPr>
          <a:xfrm>
            <a:off x="853686" y="1071785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15"/>
          <p:cNvSpPr/>
          <p:nvPr/>
        </p:nvSpPr>
        <p:spPr>
          <a:xfrm>
            <a:off x="853686" y="1813348"/>
            <a:ext cx="627770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O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sistema de información permitirá a Buitrón Coffee optimizar inventarios, reducir errores y mejorar su eficiencia para competir en el mercado digital.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6" name="Google Shape;1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679" y="121748"/>
            <a:ext cx="675638" cy="95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87167" y="1175836"/>
            <a:ext cx="3800755" cy="436383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/>
          <p:nvPr/>
        </p:nvSpPr>
        <p:spPr>
          <a:xfrm>
            <a:off x="601617" y="2609617"/>
            <a:ext cx="11118082" cy="230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ALCANCE DEL PROYECTO</a:t>
            </a:r>
            <a:endParaRPr b="1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3" name="Google Shape;203;p40"/>
          <p:cNvCxnSpPr/>
          <p:nvPr/>
        </p:nvCxnSpPr>
        <p:spPr>
          <a:xfrm>
            <a:off x="1793631" y="3809946"/>
            <a:ext cx="873405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4" name="Google Shape;20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5" cy="1174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 txBox="1"/>
          <p:nvPr/>
        </p:nvSpPr>
        <p:spPr>
          <a:xfrm>
            <a:off x="816317" y="399105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Alcance del proyecto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0" name="Google Shape;210;p17"/>
          <p:cNvCxnSpPr/>
          <p:nvPr/>
        </p:nvCxnSpPr>
        <p:spPr>
          <a:xfrm>
            <a:off x="995304" y="986505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1" name="Google Shape;211;p17"/>
          <p:cNvSpPr/>
          <p:nvPr/>
        </p:nvSpPr>
        <p:spPr>
          <a:xfrm>
            <a:off x="239375" y="1140667"/>
            <a:ext cx="6956082" cy="581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proyecto contempla el análisis, diseño y desarrollo de un sistema de información para Buitrón Coffee, enfocado en la gestión de inventarios y optimización de sus procesos internos, dentro del alcance se incluyen: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Análisis de requerimientos</a:t>
            </a: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base en entrevistas y encuestas.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Módulo de autenticación y roles</a:t>
            </a: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gestionar accesos y permisos.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inventarios</a:t>
            </a: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registro, actualización y des habilitación.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Administración de usuarios</a:t>
            </a: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creación, modificación </a:t>
            </a:r>
            <a:r>
              <a:rPr lang="es-CO" sz="20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inhabilitación de perfiles.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productos</a:t>
            </a: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catálogo con información detallada (tipo de café, nivel de tostado, presentación, precio y descripción).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Módulo de notificaciones</a:t>
            </a: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la gestión del inventario.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2" name="Google Shape;2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679" y="117305"/>
            <a:ext cx="675638" cy="95003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 txBox="1"/>
          <p:nvPr/>
        </p:nvSpPr>
        <p:spPr>
          <a:xfrm>
            <a:off x="7795334" y="1613138"/>
            <a:ext cx="3505200" cy="3631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s-CO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INCLUIRA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CO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se contempla integración con plataformas de pago electrónico.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CO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se desarrollarán módulos financieros ni contables avanzados.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CO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se tendrá un chatbot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 txBox="1"/>
          <p:nvPr/>
        </p:nvSpPr>
        <p:spPr>
          <a:xfrm>
            <a:off x="601617" y="2609617"/>
            <a:ext cx="1111808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BPMN</a:t>
            </a:r>
            <a:endParaRPr b="1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9" name="Google Shape;219;p3"/>
          <p:cNvCxnSpPr/>
          <p:nvPr/>
        </p:nvCxnSpPr>
        <p:spPr>
          <a:xfrm>
            <a:off x="1793631" y="3809946"/>
            <a:ext cx="873405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0" name="Google Shape;2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5" cy="1174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/>
        </p:nvSpPr>
        <p:spPr>
          <a:xfrm>
            <a:off x="816317" y="434273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BPMN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6" name="Google Shape;226;p38"/>
          <p:cNvCxnSpPr/>
          <p:nvPr/>
        </p:nvCxnSpPr>
        <p:spPr>
          <a:xfrm>
            <a:off x="853686" y="1071785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7" name="Google Shape;22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8" cy="95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8" title="WhatsApp Image 2025-09-26 at 6.33.45 PM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328236"/>
            <a:ext cx="11887200" cy="4378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 txBox="1"/>
          <p:nvPr/>
        </p:nvSpPr>
        <p:spPr>
          <a:xfrm>
            <a:off x="3907130" y="2354804"/>
            <a:ext cx="4377600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i="0" lang="es-CO" sz="5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</a:t>
            </a:r>
            <a:endParaRPr b="1" i="0" sz="5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4" name="Google Shape;234;p10"/>
          <p:cNvCxnSpPr/>
          <p:nvPr/>
        </p:nvCxnSpPr>
        <p:spPr>
          <a:xfrm>
            <a:off x="1802423" y="3555133"/>
            <a:ext cx="873405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5" name="Google Shape;2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5" cy="1174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/>
          <p:nvPr/>
        </p:nvSpPr>
        <p:spPr>
          <a:xfrm>
            <a:off x="939813" y="440733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 General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603682" y="1560676"/>
            <a:ext cx="6685168" cy="3785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s-CO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Diseñar un sistema de información en la empresa Buitrón Coffee enfocado en el manejo de inventarios, gestión de productos, roles, manejo de usuarios, y notificaciones.</a:t>
            </a:r>
            <a:endParaRPr b="0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2" name="Google Shape;242;p11"/>
          <p:cNvCxnSpPr/>
          <p:nvPr/>
        </p:nvCxnSpPr>
        <p:spPr>
          <a:xfrm>
            <a:off x="1011114" y="1237383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3" name="Google Shape;2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679" y="93919"/>
            <a:ext cx="675638" cy="950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ágenes de Objetivos - Descarga gratuita en Freepik" id="244" name="Google Shape;24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3875" y="1489229"/>
            <a:ext cx="3879541" cy="3879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 txBox="1"/>
          <p:nvPr/>
        </p:nvSpPr>
        <p:spPr>
          <a:xfrm>
            <a:off x="816317" y="460292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 Específicos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0" name="Google Shape;250;p12"/>
          <p:cNvCxnSpPr/>
          <p:nvPr/>
        </p:nvCxnSpPr>
        <p:spPr>
          <a:xfrm>
            <a:off x="1021445" y="1144588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51" name="Google Shape;25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666" y="1787804"/>
            <a:ext cx="2733465" cy="193571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2352"/>
              </a:srgbClr>
            </a:outerShdw>
          </a:effectLst>
        </p:spPr>
      </p:pic>
      <p:pic>
        <p:nvPicPr>
          <p:cNvPr id="252" name="Google Shape;25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5833" y="2656917"/>
            <a:ext cx="2759870" cy="187956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2352"/>
              </a:srgbClr>
            </a:outerShdw>
          </a:effectLst>
        </p:spPr>
      </p:pic>
      <p:pic>
        <p:nvPicPr>
          <p:cNvPr id="253" name="Google Shape;25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02065" y="1793619"/>
            <a:ext cx="2558951" cy="178351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2352"/>
              </a:srgbClr>
            </a:outerShdw>
          </a:effectLst>
        </p:spPr>
      </p:pic>
      <p:sp>
        <p:nvSpPr>
          <p:cNvPr id="254" name="Google Shape;254;p12"/>
          <p:cNvSpPr/>
          <p:nvPr/>
        </p:nvSpPr>
        <p:spPr>
          <a:xfrm>
            <a:off x="589085" y="4067737"/>
            <a:ext cx="346238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s-CO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Desarrollar un sistema de autenticación de acceso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4754344" y="4938580"/>
            <a:ext cx="322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s-CO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Desarrollar la gestión de roles y permisos</a:t>
            </a:r>
            <a:endParaRPr b="0" i="0" sz="2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9139925" y="3939900"/>
            <a:ext cx="2733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s-CO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Diseñar un módulo de control de inventarios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679" y="93919"/>
            <a:ext cx="675638" cy="950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/>
          <p:nvPr/>
        </p:nvSpPr>
        <p:spPr>
          <a:xfrm>
            <a:off x="816317" y="395385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 Específicos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3" name="Google Shape;263;p13"/>
          <p:cNvCxnSpPr/>
          <p:nvPr/>
        </p:nvCxnSpPr>
        <p:spPr>
          <a:xfrm>
            <a:off x="942454" y="1043956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4" name="Google Shape;264;p13"/>
          <p:cNvSpPr/>
          <p:nvPr/>
        </p:nvSpPr>
        <p:spPr>
          <a:xfrm>
            <a:off x="589085" y="4067737"/>
            <a:ext cx="346238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s-CO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Crear el módulo de administración de usuarios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4760582" y="5144955"/>
            <a:ext cx="322283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s-CO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Desarrollar un </a:t>
            </a:r>
            <a:r>
              <a:rPr b="1" lang="es-CO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módulo</a:t>
            </a:r>
            <a:r>
              <a:rPr b="1" lang="es-CO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la gestión de productos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9169935" y="3939908"/>
            <a:ext cx="27221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O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Notificaciones</a:t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7" name="Google Shape;26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454" y="1793619"/>
            <a:ext cx="2558951" cy="178351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2352"/>
              </a:srgbClr>
            </a:outerShdw>
          </a:effectLst>
        </p:spPr>
      </p:pic>
      <p:pic>
        <p:nvPicPr>
          <p:cNvPr id="268" name="Google Shape;26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5709" y="2657367"/>
            <a:ext cx="2968332" cy="208168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2352"/>
              </a:srgbClr>
            </a:outerShdw>
          </a:effectLst>
        </p:spPr>
      </p:pic>
      <p:pic>
        <p:nvPicPr>
          <p:cNvPr id="269" name="Google Shape;26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37894" y="1530675"/>
            <a:ext cx="2668301" cy="188074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2352"/>
              </a:srgbClr>
            </a:outerShdw>
          </a:effectLst>
        </p:spPr>
      </p:pic>
      <p:pic>
        <p:nvPicPr>
          <p:cNvPr id="270" name="Google Shape;27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679" y="93919"/>
            <a:ext cx="675638" cy="950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"/>
          <p:cNvSpPr txBox="1"/>
          <p:nvPr/>
        </p:nvSpPr>
        <p:spPr>
          <a:xfrm>
            <a:off x="601617" y="2609617"/>
            <a:ext cx="11118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LEVANTAMIENTO DE INFORMACiÓN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76" name="Google Shape;276;p18"/>
          <p:cNvCxnSpPr/>
          <p:nvPr/>
        </p:nvCxnSpPr>
        <p:spPr>
          <a:xfrm>
            <a:off x="1793631" y="3809946"/>
            <a:ext cx="873405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77" name="Google Shape;2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5" cy="1174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 txBox="1"/>
          <p:nvPr/>
        </p:nvSpPr>
        <p:spPr>
          <a:xfrm>
            <a:off x="816317" y="434273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Work Sans"/>
                <a:ea typeface="Work Sans"/>
                <a:cs typeface="Work Sans"/>
                <a:sym typeface="Work Sans"/>
              </a:rPr>
              <a:t>Levantamiento de información </a:t>
            </a:r>
            <a:endParaRPr b="1" i="0" sz="3600" u="none" cap="none" strike="noStrike">
              <a:solidFill>
                <a:schemeClr val="accent6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83" name="Google Shape;283;p19"/>
          <p:cNvCxnSpPr/>
          <p:nvPr/>
        </p:nvCxnSpPr>
        <p:spPr>
          <a:xfrm>
            <a:off x="853686" y="1071785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4" name="Google Shape;284;p19"/>
          <p:cNvSpPr/>
          <p:nvPr/>
        </p:nvSpPr>
        <p:spPr>
          <a:xfrm>
            <a:off x="0" y="1130361"/>
            <a:ext cx="7677579" cy="5709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858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Informe de la encuesta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97155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Prefieren un catálogo por categorías (especialmente por tipo de café).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9715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Usarían con mayor frecuencia el teléfono móvil para ingresar.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9715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el carrito de compras valoran un resumen claro de costos.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9715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 de pago más usada: pago contra entrega.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9715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Información más importante: tiempo de entrega.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9715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Notificación preferida: confirmación de compra.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9715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Consideran esencial crear un usuario.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97155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Diseño preferido: tradicional y claro.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971550" marR="0" rtl="0" algn="l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 ingresar, lo primero que hacen es revisar precios y productos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8" cy="95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9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12167" y="2652241"/>
            <a:ext cx="4200507" cy="316409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3529"/>
              </a:srgbClr>
            </a:outerShdw>
          </a:effectLst>
        </p:spPr>
      </p:pic>
      <p:sp>
        <p:nvSpPr>
          <p:cNvPr id="287" name="Google Shape;287;p19"/>
          <p:cNvSpPr txBox="1"/>
          <p:nvPr/>
        </p:nvSpPr>
        <p:spPr>
          <a:xfrm>
            <a:off x="7954392" y="1642369"/>
            <a:ext cx="31160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O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encuesta: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8336025" y="421225"/>
            <a:ext cx="3000000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"/>
          <p:cNvSpPr txBox="1"/>
          <p:nvPr/>
        </p:nvSpPr>
        <p:spPr>
          <a:xfrm>
            <a:off x="816317" y="434273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Levantamiento de información 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4" name="Google Shape;294;p20"/>
          <p:cNvCxnSpPr/>
          <p:nvPr/>
        </p:nvCxnSpPr>
        <p:spPr>
          <a:xfrm>
            <a:off x="853686" y="1071785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5" name="Google Shape;295;p20"/>
          <p:cNvSpPr/>
          <p:nvPr/>
        </p:nvSpPr>
        <p:spPr>
          <a:xfrm>
            <a:off x="711073" y="1384310"/>
            <a:ext cx="6277708" cy="5632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CO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INFORME SOBRE LA ENTREVISTA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s-CO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señor Juan Carlos presenta dificultades en: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s-CO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inventarios.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s-CO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Gestión de clientes.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s-CO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Disponibilidad de tiempo (solo puede atender en la noche).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s-CO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Solución propuesta: un aplicativo que permita: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s-CO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Visualizar productos de café (Borbón rosado, variedad Supremo y Geisha).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s-CO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Mostrar opciones de tostado (grano o molido).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s-CO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Indicar presentaciones (Libra, Cuarto, Baches).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s-CO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Incluir precio, descripción y nivel de tostado.</a:t>
            </a:r>
            <a:br>
              <a:rPr b="0" i="0" lang="es-CO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8" cy="95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0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1360" y="2196437"/>
            <a:ext cx="3761557" cy="376155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3529"/>
              </a:srgbClr>
            </a:outerShdw>
          </a:effectLst>
        </p:spPr>
      </p:pic>
      <p:sp>
        <p:nvSpPr>
          <p:cNvPr id="298" name="Google Shape;298;p20"/>
          <p:cNvSpPr txBox="1"/>
          <p:nvPr/>
        </p:nvSpPr>
        <p:spPr>
          <a:xfrm>
            <a:off x="7377344" y="1313895"/>
            <a:ext cx="35421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O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Entrevista: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/>
          <p:nvPr/>
        </p:nvSpPr>
        <p:spPr>
          <a:xfrm>
            <a:off x="601617" y="2609617"/>
            <a:ext cx="1111808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REQUERIMIENTOS</a:t>
            </a:r>
            <a:endParaRPr b="1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4" name="Google Shape;304;p22"/>
          <p:cNvCxnSpPr/>
          <p:nvPr/>
        </p:nvCxnSpPr>
        <p:spPr>
          <a:xfrm>
            <a:off x="1793631" y="3809946"/>
            <a:ext cx="873405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05" name="Google Shape;3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5" cy="1174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 txBox="1"/>
          <p:nvPr/>
        </p:nvSpPr>
        <p:spPr>
          <a:xfrm>
            <a:off x="816317" y="434273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REQUERIMIENTOS FUNCIONALES 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1" name="Google Shape;311;p23"/>
          <p:cNvCxnSpPr/>
          <p:nvPr/>
        </p:nvCxnSpPr>
        <p:spPr>
          <a:xfrm>
            <a:off x="853686" y="1071785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2" name="Google Shape;312;p23"/>
          <p:cNvSpPr/>
          <p:nvPr/>
        </p:nvSpPr>
        <p:spPr>
          <a:xfrm>
            <a:off x="292964" y="1258176"/>
            <a:ext cx="6409678" cy="4832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s-CO" sz="1900">
                <a:solidFill>
                  <a:schemeClr val="dk1"/>
                </a:solidFill>
              </a:rPr>
              <a:t>Inicio de sesión</a:t>
            </a:r>
            <a:br>
              <a:rPr lang="es-CO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s-CO" sz="1900">
                <a:solidFill>
                  <a:schemeClr val="dk1"/>
                </a:solidFill>
              </a:rPr>
              <a:t>Modificar datos de Usuario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s-CO" sz="1900">
                <a:solidFill>
                  <a:schemeClr val="dk1"/>
                </a:solidFill>
              </a:rPr>
              <a:t>Visualizar catálogo </a:t>
            </a:r>
            <a:br>
              <a:rPr lang="es-CO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s-CO" sz="1900">
                <a:solidFill>
                  <a:schemeClr val="dk1"/>
                </a:solidFill>
              </a:rPr>
              <a:t>Canales de comunicación </a:t>
            </a:r>
            <a:br>
              <a:rPr lang="es-CO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s-CO" sz="1900">
                <a:solidFill>
                  <a:schemeClr val="dk1"/>
                </a:solidFill>
              </a:rPr>
              <a:t>Sistema de reseñas y calificación</a:t>
            </a:r>
            <a:br>
              <a:rPr lang="es-CO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AutoNum type="arabicPeriod"/>
            </a:pPr>
            <a:r>
              <a:rPr lang="es-CO" sz="1900">
                <a:solidFill>
                  <a:schemeClr val="dk1"/>
                </a:solidFill>
              </a:rPr>
              <a:t>Registro de usuarios</a:t>
            </a:r>
            <a:br>
              <a:rPr lang="es-CO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s-CO" sz="1900">
                <a:solidFill>
                  <a:schemeClr val="dk1"/>
                </a:solidFill>
              </a:rPr>
              <a:t>Gestión de Usuario </a:t>
            </a:r>
            <a:br>
              <a:rPr lang="es-CO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s-CO" sz="1900">
                <a:solidFill>
                  <a:schemeClr val="dk1"/>
                </a:solidFill>
              </a:rPr>
              <a:t>Gestión de Producto </a:t>
            </a:r>
            <a:br>
              <a:rPr b="1" lang="es-CO" sz="17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3" name="Google Shape;3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8" cy="950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querimientos PNG" id="314" name="Google Shape;314;p23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8079" y="1362227"/>
            <a:ext cx="4476750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/>
        </p:nvSpPr>
        <p:spPr>
          <a:xfrm>
            <a:off x="816317" y="434273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REQUERIMIENTOS FUNCIONALES 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0" name="Google Shape;320;p41"/>
          <p:cNvCxnSpPr/>
          <p:nvPr/>
        </p:nvCxnSpPr>
        <p:spPr>
          <a:xfrm>
            <a:off x="853686" y="1071785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1" name="Google Shape;321;p41"/>
          <p:cNvSpPr/>
          <p:nvPr/>
        </p:nvSpPr>
        <p:spPr>
          <a:xfrm>
            <a:off x="527572" y="1672026"/>
            <a:ext cx="62778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>
                <a:solidFill>
                  <a:schemeClr val="dk1"/>
                </a:solidFill>
              </a:rPr>
              <a:t>9.Gestión de inventario</a:t>
            </a:r>
            <a:br>
              <a:rPr b="1" lang="es-CO" sz="1900">
                <a:solidFill>
                  <a:schemeClr val="dk1"/>
                </a:solidFill>
              </a:rPr>
            </a:b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>
                <a:solidFill>
                  <a:schemeClr val="dk1"/>
                </a:solidFill>
              </a:rPr>
              <a:t>10. Reporte de movimiento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>
                <a:solidFill>
                  <a:schemeClr val="dk1"/>
                </a:solidFill>
              </a:rPr>
              <a:t>11. Olvidar contraseña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>
                <a:solidFill>
                  <a:schemeClr val="dk1"/>
                </a:solidFill>
              </a:rPr>
              <a:t>12. </a:t>
            </a:r>
            <a:r>
              <a:rPr lang="es-CO" sz="1900"/>
              <a:t>Cerrar Sesión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322" name="Google Shape;32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8" cy="950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querimientos PNG" id="323" name="Google Shape;323;p41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5835" y="1258176"/>
            <a:ext cx="4476750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02e5d77eb_1_2"/>
          <p:cNvSpPr txBox="1"/>
          <p:nvPr/>
        </p:nvSpPr>
        <p:spPr>
          <a:xfrm>
            <a:off x="816317" y="43427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REQUERIMIENTOS  NO FUNCIONALES 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9" name="Google Shape;329;g3802e5d77eb_1_2"/>
          <p:cNvCxnSpPr/>
          <p:nvPr/>
        </p:nvCxnSpPr>
        <p:spPr>
          <a:xfrm>
            <a:off x="853686" y="1071785"/>
            <a:ext cx="3965400" cy="9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0" name="Google Shape;330;g3802e5d77eb_1_2"/>
          <p:cNvSpPr/>
          <p:nvPr/>
        </p:nvSpPr>
        <p:spPr>
          <a:xfrm>
            <a:off x="853686" y="1813348"/>
            <a:ext cx="62778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arabicPeriod"/>
            </a:pPr>
            <a:r>
              <a:rPr b="0" i="0" lang="es-CO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Seguridad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s-CO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Compatibilidad (interfaz de software)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s-CO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Fiabilidad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s-CO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Portabilidad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1" name="Google Shape;331;g3802e5d77eb_1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802e5d77eb_1_2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1617" y="1955345"/>
            <a:ext cx="3351440" cy="34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"/>
          <p:cNvSpPr txBox="1"/>
          <p:nvPr/>
        </p:nvSpPr>
        <p:spPr>
          <a:xfrm>
            <a:off x="601617" y="2609617"/>
            <a:ext cx="11118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MOCKUPS</a:t>
            </a:r>
            <a:endParaRPr b="1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8" name="Google Shape;338;p16"/>
          <p:cNvCxnSpPr/>
          <p:nvPr/>
        </p:nvCxnSpPr>
        <p:spPr>
          <a:xfrm>
            <a:off x="1793631" y="3809946"/>
            <a:ext cx="873405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39" name="Google Shape;3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5" cy="1174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9"/>
          <p:cNvSpPr txBox="1"/>
          <p:nvPr/>
        </p:nvSpPr>
        <p:spPr>
          <a:xfrm>
            <a:off x="816317" y="434273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MOCKUPS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5" name="Google Shape;345;p39"/>
          <p:cNvCxnSpPr/>
          <p:nvPr/>
        </p:nvCxnSpPr>
        <p:spPr>
          <a:xfrm>
            <a:off x="853686" y="1071785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46" name="Google Shape;34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8" cy="95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9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18481" y="1175836"/>
            <a:ext cx="7411479" cy="5337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11d1c57bc_3_4"/>
          <p:cNvSpPr txBox="1"/>
          <p:nvPr/>
        </p:nvSpPr>
        <p:spPr>
          <a:xfrm>
            <a:off x="601617" y="2609617"/>
            <a:ext cx="11118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lang="es-CO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 TRIMESTRE</a:t>
            </a:r>
            <a:endParaRPr b="1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3" name="Google Shape;353;g3911d1c57bc_3_4"/>
          <p:cNvCxnSpPr/>
          <p:nvPr/>
        </p:nvCxnSpPr>
        <p:spPr>
          <a:xfrm>
            <a:off x="1793631" y="3809946"/>
            <a:ext cx="8734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54" name="Google Shape;354;g3911d1c57bc_3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6" cy="117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11d1c57bc_0_11"/>
          <p:cNvSpPr txBox="1"/>
          <p:nvPr/>
        </p:nvSpPr>
        <p:spPr>
          <a:xfrm>
            <a:off x="988675" y="485775"/>
            <a:ext cx="5659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000">
                <a:solidFill>
                  <a:srgbClr val="38AA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Tabla de Contenido</a:t>
            </a:r>
            <a:r>
              <a:rPr b="1" i="0" lang="es-CO" sz="3000" u="none" cap="none" strike="noStrike">
                <a:solidFill>
                  <a:srgbClr val="38AA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II </a:t>
            </a:r>
            <a:r>
              <a:rPr b="1" lang="es-CO" sz="3000">
                <a:solidFill>
                  <a:srgbClr val="38AA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Trimestre</a:t>
            </a:r>
            <a:endParaRPr b="0" i="0" sz="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g3911d1c57bc_0_11"/>
          <p:cNvSpPr txBox="1"/>
          <p:nvPr/>
        </p:nvSpPr>
        <p:spPr>
          <a:xfrm>
            <a:off x="295223" y="677987"/>
            <a:ext cx="5355300" cy="6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caso de uso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caso de uso extendido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relacional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entidad </a:t>
            </a: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relación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despliegue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Ficha Técnica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Normalización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Diccionario de Datos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1" name="Google Shape;361;g3911d1c57bc_0_11"/>
          <p:cNvCxnSpPr/>
          <p:nvPr/>
        </p:nvCxnSpPr>
        <p:spPr>
          <a:xfrm flipH="1" rot="10800000">
            <a:off x="1126349" y="1044013"/>
            <a:ext cx="1919700" cy="4800"/>
          </a:xfrm>
          <a:prstGeom prst="straightConnector1">
            <a:avLst/>
          </a:prstGeom>
          <a:noFill/>
          <a:ln cap="flat" cmpd="sng" w="12700">
            <a:solidFill>
              <a:srgbClr val="4D4D4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62" name="Google Shape;362;g3911d1c57bc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679" y="93919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g3911d1c57bc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6600" y="3478350"/>
            <a:ext cx="4201300" cy="279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3911d1c57bc_0_11"/>
          <p:cNvSpPr txBox="1"/>
          <p:nvPr/>
        </p:nvSpPr>
        <p:spPr>
          <a:xfrm>
            <a:off x="6416973" y="944582"/>
            <a:ext cx="53553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Clases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CO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Repositorio Github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9c5439d23_0_0"/>
          <p:cNvSpPr txBox="1"/>
          <p:nvPr/>
        </p:nvSpPr>
        <p:spPr>
          <a:xfrm>
            <a:off x="601617" y="2609617"/>
            <a:ext cx="11118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CO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CASO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g3a9c5439d23_0_0"/>
          <p:cNvCxnSpPr/>
          <p:nvPr/>
        </p:nvCxnSpPr>
        <p:spPr>
          <a:xfrm>
            <a:off x="1793631" y="3809946"/>
            <a:ext cx="8734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71" name="Google Shape;371;g3a9c5439d2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6" cy="117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9c5439d23_0_30"/>
          <p:cNvSpPr txBox="1"/>
          <p:nvPr/>
        </p:nvSpPr>
        <p:spPr>
          <a:xfrm>
            <a:off x="816317" y="43427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s-CO" sz="3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CASO DE USO</a:t>
            </a:r>
            <a:endParaRPr sz="3600">
              <a:solidFill>
                <a:schemeClr val="accent6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7" name="Google Shape;377;g3a9c5439d23_0_30"/>
          <p:cNvCxnSpPr/>
          <p:nvPr/>
        </p:nvCxnSpPr>
        <p:spPr>
          <a:xfrm>
            <a:off x="853686" y="1071785"/>
            <a:ext cx="3965400" cy="9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78" name="Google Shape;378;g3a9c5439d23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a9c5439d23_0_3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0813" y="1175873"/>
            <a:ext cx="7870382" cy="5377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a9c5439d23_0_18"/>
          <p:cNvSpPr txBox="1"/>
          <p:nvPr/>
        </p:nvSpPr>
        <p:spPr>
          <a:xfrm>
            <a:off x="601617" y="2609617"/>
            <a:ext cx="11118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CO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CASOS DE USO EXTENDIDO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g3a9c5439d23_0_18"/>
          <p:cNvCxnSpPr/>
          <p:nvPr/>
        </p:nvCxnSpPr>
        <p:spPr>
          <a:xfrm>
            <a:off x="1793631" y="3809946"/>
            <a:ext cx="8734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86" name="Google Shape;386;g3a9c5439d23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6" cy="117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9c5439d23_0_54"/>
          <p:cNvSpPr txBox="1"/>
          <p:nvPr/>
        </p:nvSpPr>
        <p:spPr>
          <a:xfrm>
            <a:off x="816317" y="43427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CASO DE USO EXTENDIDO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2" name="Google Shape;392;g3a9c5439d23_0_54"/>
          <p:cNvCxnSpPr/>
          <p:nvPr/>
        </p:nvCxnSpPr>
        <p:spPr>
          <a:xfrm>
            <a:off x="853686" y="1071785"/>
            <a:ext cx="3965400" cy="9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3" name="Google Shape;393;g3a9c5439d23_0_54"/>
          <p:cNvSpPr/>
          <p:nvPr/>
        </p:nvSpPr>
        <p:spPr>
          <a:xfrm>
            <a:off x="853686" y="1813348"/>
            <a:ext cx="62778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4" name="Google Shape;394;g3a9c5439d23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3a9c5439d23_0_5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0150" y="1279997"/>
            <a:ext cx="6277800" cy="5206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11d1c57bc_2_0"/>
          <p:cNvSpPr txBox="1"/>
          <p:nvPr/>
        </p:nvSpPr>
        <p:spPr>
          <a:xfrm>
            <a:off x="601625" y="2609625"/>
            <a:ext cx="11138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CO" sz="5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</a:t>
            </a:r>
            <a:r>
              <a:rPr lang="es-CO" sz="5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RELACIONAL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g3911d1c57bc_2_0"/>
          <p:cNvCxnSpPr/>
          <p:nvPr/>
        </p:nvCxnSpPr>
        <p:spPr>
          <a:xfrm>
            <a:off x="1793631" y="3809946"/>
            <a:ext cx="8734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02" name="Google Shape;402;g3911d1c57bc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6" cy="117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911d1c57bc_2_6"/>
          <p:cNvSpPr txBox="1"/>
          <p:nvPr/>
        </p:nvSpPr>
        <p:spPr>
          <a:xfrm>
            <a:off x="816317" y="43427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</a:t>
            </a:r>
            <a:r>
              <a:rPr b="1" lang="es-CO" sz="3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RELACIONAL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8" name="Google Shape;408;g3911d1c57bc_2_6"/>
          <p:cNvCxnSpPr/>
          <p:nvPr/>
        </p:nvCxnSpPr>
        <p:spPr>
          <a:xfrm>
            <a:off x="853686" y="1071785"/>
            <a:ext cx="3965400" cy="9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09" name="Google Shape;409;g3911d1c57bc_2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g3911d1c57bc_2_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0525" y="1175875"/>
            <a:ext cx="4603424" cy="548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a8caca1f4_0_25"/>
          <p:cNvSpPr txBox="1"/>
          <p:nvPr/>
        </p:nvSpPr>
        <p:spPr>
          <a:xfrm>
            <a:off x="601625" y="2609625"/>
            <a:ext cx="11138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CO" sz="5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ENTIDAD </a:t>
            </a:r>
            <a:r>
              <a:rPr lang="es-CO" sz="5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RELACIÓN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g3aa8caca1f4_0_25"/>
          <p:cNvCxnSpPr/>
          <p:nvPr/>
        </p:nvCxnSpPr>
        <p:spPr>
          <a:xfrm>
            <a:off x="1793631" y="3809946"/>
            <a:ext cx="8734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17" name="Google Shape;417;g3aa8caca1f4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6" cy="117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a8caca1f4_0_31"/>
          <p:cNvSpPr txBox="1"/>
          <p:nvPr/>
        </p:nvSpPr>
        <p:spPr>
          <a:xfrm>
            <a:off x="816317" y="43427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MODELO ENTIDAD RELACIÓN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3" name="Google Shape;423;g3aa8caca1f4_0_31"/>
          <p:cNvCxnSpPr/>
          <p:nvPr/>
        </p:nvCxnSpPr>
        <p:spPr>
          <a:xfrm>
            <a:off x="853686" y="1071785"/>
            <a:ext cx="3965400" cy="9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24" name="Google Shape;424;g3aa8caca1f4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3aa8caca1f4_0_3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00" y="1539950"/>
            <a:ext cx="12039598" cy="4497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9c5439d23_0_24"/>
          <p:cNvSpPr txBox="1"/>
          <p:nvPr/>
        </p:nvSpPr>
        <p:spPr>
          <a:xfrm>
            <a:off x="601617" y="2609617"/>
            <a:ext cx="11118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CO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" name="Google Shape;431;g3a9c5439d23_0_24"/>
          <p:cNvCxnSpPr/>
          <p:nvPr/>
        </p:nvCxnSpPr>
        <p:spPr>
          <a:xfrm>
            <a:off x="1793631" y="3809946"/>
            <a:ext cx="8734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32" name="Google Shape;432;g3a9c5439d23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6" cy="117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9c5439d23_0_62"/>
          <p:cNvSpPr txBox="1"/>
          <p:nvPr/>
        </p:nvSpPr>
        <p:spPr>
          <a:xfrm>
            <a:off x="816317" y="43427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DESPLIEGUE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8" name="Google Shape;438;g3a9c5439d23_0_62"/>
          <p:cNvCxnSpPr/>
          <p:nvPr/>
        </p:nvCxnSpPr>
        <p:spPr>
          <a:xfrm>
            <a:off x="853686" y="1071785"/>
            <a:ext cx="3965400" cy="9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39" name="Google Shape;439;g3a9c5439d23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a9c5439d23_0_62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28273"/>
            <a:ext cx="11887198" cy="5279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9c5439d23_0_12"/>
          <p:cNvSpPr txBox="1"/>
          <p:nvPr/>
        </p:nvSpPr>
        <p:spPr>
          <a:xfrm>
            <a:off x="601617" y="2609617"/>
            <a:ext cx="11118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CO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FICHA </a:t>
            </a:r>
            <a:r>
              <a:rPr lang="es-CO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TÉCNICA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g3a9c5439d23_0_12"/>
          <p:cNvCxnSpPr/>
          <p:nvPr/>
        </p:nvCxnSpPr>
        <p:spPr>
          <a:xfrm>
            <a:off x="1793631" y="3809946"/>
            <a:ext cx="8734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47" name="Google Shape;447;g3a9c5439d23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6" cy="117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9c5439d23_0_46"/>
          <p:cNvSpPr txBox="1"/>
          <p:nvPr/>
        </p:nvSpPr>
        <p:spPr>
          <a:xfrm>
            <a:off x="816317" y="43427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lang="es-CO" sz="3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FICHA </a:t>
            </a:r>
            <a:r>
              <a:rPr b="1" lang="es-CO" sz="3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TÉCNICA</a:t>
            </a: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3" name="Google Shape;453;g3a9c5439d23_0_46"/>
          <p:cNvCxnSpPr/>
          <p:nvPr/>
        </p:nvCxnSpPr>
        <p:spPr>
          <a:xfrm>
            <a:off x="853686" y="1071785"/>
            <a:ext cx="3965400" cy="9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4" name="Google Shape;454;g3a9c5439d23_0_46"/>
          <p:cNvSpPr/>
          <p:nvPr/>
        </p:nvSpPr>
        <p:spPr>
          <a:xfrm>
            <a:off x="853686" y="1813348"/>
            <a:ext cx="62778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5" name="Google Shape;455;g3a9c5439d23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679" y="121748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3a9c5439d23_0_46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687" y="1515875"/>
            <a:ext cx="7589975" cy="475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aa8caca1f4_0_19"/>
          <p:cNvSpPr txBox="1"/>
          <p:nvPr/>
        </p:nvSpPr>
        <p:spPr>
          <a:xfrm>
            <a:off x="601617" y="2609617"/>
            <a:ext cx="11118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CO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g3aa8caca1f4_0_19"/>
          <p:cNvCxnSpPr/>
          <p:nvPr/>
        </p:nvCxnSpPr>
        <p:spPr>
          <a:xfrm>
            <a:off x="1793631" y="3809946"/>
            <a:ext cx="8734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63" name="Google Shape;463;g3aa8caca1f4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6" cy="117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a8caca1f4_0_39"/>
          <p:cNvSpPr txBox="1"/>
          <p:nvPr/>
        </p:nvSpPr>
        <p:spPr>
          <a:xfrm>
            <a:off x="816317" y="43427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NORMALIZACIÓN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9" name="Google Shape;469;g3aa8caca1f4_0_39"/>
          <p:cNvCxnSpPr/>
          <p:nvPr/>
        </p:nvCxnSpPr>
        <p:spPr>
          <a:xfrm>
            <a:off x="853686" y="1071785"/>
            <a:ext cx="3965400" cy="9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70" name="Google Shape;470;g3aa8caca1f4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g3aa8caca1f4_0_3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098" y="1328275"/>
            <a:ext cx="11465800" cy="533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aa8caca1f4_0_13"/>
          <p:cNvSpPr txBox="1"/>
          <p:nvPr/>
        </p:nvSpPr>
        <p:spPr>
          <a:xfrm>
            <a:off x="601617" y="2609617"/>
            <a:ext cx="11118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CO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DICCIONARIO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7" name="Google Shape;477;g3aa8caca1f4_0_13"/>
          <p:cNvCxnSpPr/>
          <p:nvPr/>
        </p:nvCxnSpPr>
        <p:spPr>
          <a:xfrm>
            <a:off x="1793631" y="3809946"/>
            <a:ext cx="8734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78" name="Google Shape;478;g3aa8caca1f4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6" cy="117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a8caca1f4_0_47"/>
          <p:cNvSpPr txBox="1"/>
          <p:nvPr/>
        </p:nvSpPr>
        <p:spPr>
          <a:xfrm>
            <a:off x="816317" y="43427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DICCIONARIO DE DATOS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84" name="Google Shape;484;g3aa8caca1f4_0_47"/>
          <p:cNvCxnSpPr/>
          <p:nvPr/>
        </p:nvCxnSpPr>
        <p:spPr>
          <a:xfrm>
            <a:off x="853686" y="1071785"/>
            <a:ext cx="3965400" cy="9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85" name="Google Shape;485;g3aa8caca1f4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3aa8caca1f4_0_4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238" y="1328273"/>
            <a:ext cx="4832284" cy="5377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g3aa8caca1f4_0_47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89334" y="1553360"/>
            <a:ext cx="6379718" cy="4927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918582bfb0_0_0"/>
          <p:cNvSpPr txBox="1"/>
          <p:nvPr/>
        </p:nvSpPr>
        <p:spPr>
          <a:xfrm>
            <a:off x="601617" y="2609617"/>
            <a:ext cx="11118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CO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CO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CLASES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3" name="Google Shape;493;g3918582bfb0_0_0"/>
          <p:cNvCxnSpPr/>
          <p:nvPr/>
        </p:nvCxnSpPr>
        <p:spPr>
          <a:xfrm>
            <a:off x="1793631" y="3809946"/>
            <a:ext cx="8734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94" name="Google Shape;494;g3918582bfb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6" cy="117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918582bfb0_0_6"/>
          <p:cNvSpPr txBox="1"/>
          <p:nvPr/>
        </p:nvSpPr>
        <p:spPr>
          <a:xfrm>
            <a:off x="816317" y="43427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DIAGRAMA DE CLASES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0" name="Google Shape;500;g3918582bfb0_0_6"/>
          <p:cNvCxnSpPr/>
          <p:nvPr/>
        </p:nvCxnSpPr>
        <p:spPr>
          <a:xfrm>
            <a:off x="853686" y="1071785"/>
            <a:ext cx="3965400" cy="9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01" name="Google Shape;501;g3918582bfb0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9" cy="95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918582bfb0_0_6" title="Diagrama de Clases.png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8150" y="1175875"/>
            <a:ext cx="9815701" cy="53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2"/>
          <p:cNvSpPr txBox="1"/>
          <p:nvPr/>
        </p:nvSpPr>
        <p:spPr>
          <a:xfrm>
            <a:off x="601617" y="2609617"/>
            <a:ext cx="11118000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CO" sz="7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REPOSITORIO GITHUB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8" name="Google Shape;508;p42"/>
          <p:cNvCxnSpPr/>
          <p:nvPr/>
        </p:nvCxnSpPr>
        <p:spPr>
          <a:xfrm>
            <a:off x="1793631" y="3809946"/>
            <a:ext cx="873405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09" name="Google Shape;50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478" y="105508"/>
            <a:ext cx="835115" cy="1174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3"/>
          <p:cNvSpPr txBox="1"/>
          <p:nvPr/>
        </p:nvSpPr>
        <p:spPr>
          <a:xfrm>
            <a:off x="868025" y="434273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3600" u="none" cap="none" strike="noStrik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Repositorio GitHub</a:t>
            </a:r>
            <a:endParaRPr b="1" i="0" sz="3600" u="none" cap="none" strike="noStrik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5" name="Google Shape;515;p43"/>
          <p:cNvCxnSpPr/>
          <p:nvPr/>
        </p:nvCxnSpPr>
        <p:spPr>
          <a:xfrm>
            <a:off x="853686" y="1071785"/>
            <a:ext cx="3965331" cy="877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16" name="Google Shape;51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9" y="121748"/>
            <a:ext cx="675638" cy="95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3" title="WhatsApp Image 2025-09-30 at 1.08.57 AM.jpeg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328236"/>
            <a:ext cx="11887200" cy="4875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